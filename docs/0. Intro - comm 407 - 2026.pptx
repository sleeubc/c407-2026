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67" r:id="rId4"/>
    <p:sldId id="257" r:id="rId5"/>
    <p:sldId id="269" r:id="rId6"/>
    <p:sldId id="259" r:id="rId7"/>
    <p:sldId id="260" r:id="rId8"/>
    <p:sldId id="278" r:id="rId9"/>
    <p:sldId id="271" r:id="rId10"/>
    <p:sldId id="277" r:id="rId11"/>
    <p:sldId id="261" r:id="rId12"/>
    <p:sldId id="262" r:id="rId13"/>
    <p:sldId id="264" r:id="rId14"/>
    <p:sldId id="263" r:id="rId15"/>
    <p:sldId id="265" r:id="rId16"/>
    <p:sldId id="274"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42" autoAdjust="0"/>
    <p:restoredTop sz="94660"/>
  </p:normalViewPr>
  <p:slideViewPr>
    <p:cSldViewPr snapToGrid="0">
      <p:cViewPr varScale="1">
        <p:scale>
          <a:sx n="118" d="100"/>
          <a:sy n="118" d="100"/>
        </p:scale>
        <p:origin x="11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CA"/>
          </a:p>
        </p:txBody>
      </p:sp>
      <p:sp>
        <p:nvSpPr>
          <p:cNvPr id="4" name="Date Placeholder 3"/>
          <p:cNvSpPr>
            <a:spLocks noGrp="1"/>
          </p:cNvSpPr>
          <p:nvPr>
            <p:ph type="dt" sz="half" idx="10"/>
          </p:nvPr>
        </p:nvSpPr>
        <p:spPr/>
        <p:txBody>
          <a:bodyPr/>
          <a:lstStyle/>
          <a:p>
            <a:fld id="{0138EDA3-173C-4626-91EC-B53700761686}" type="datetimeFigureOut">
              <a:rPr lang="fr-CA" smtClean="0"/>
              <a:t>2026-01-04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3285435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10"/>
          </p:nvPr>
        </p:nvSpPr>
        <p:spPr/>
        <p:txBody>
          <a:bodyPr/>
          <a:lstStyle/>
          <a:p>
            <a:fld id="{0138EDA3-173C-4626-91EC-B53700761686}" type="datetimeFigureOut">
              <a:rPr lang="fr-CA" smtClean="0"/>
              <a:t>2026-01-04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271504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138EDA3-173C-4626-91EC-B53700761686}" type="datetimeFigureOut">
              <a:rPr lang="fr-CA" smtClean="0"/>
              <a:t>2026-01-04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1530790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Date Placeholder 4"/>
          <p:cNvSpPr>
            <a:spLocks noGrp="1"/>
          </p:cNvSpPr>
          <p:nvPr>
            <p:ph type="dt" sz="half" idx="10"/>
          </p:nvPr>
        </p:nvSpPr>
        <p:spPr/>
        <p:txBody>
          <a:bodyPr/>
          <a:lstStyle/>
          <a:p>
            <a:fld id="{0138EDA3-173C-4626-91EC-B53700761686}" type="datetimeFigureOut">
              <a:rPr lang="fr-CA" smtClean="0"/>
              <a:t>2026-01-04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3322464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fr-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7" name="Date Placeholder 6"/>
          <p:cNvSpPr>
            <a:spLocks noGrp="1"/>
          </p:cNvSpPr>
          <p:nvPr>
            <p:ph type="dt" sz="half" idx="10"/>
          </p:nvPr>
        </p:nvSpPr>
        <p:spPr/>
        <p:txBody>
          <a:bodyPr/>
          <a:lstStyle/>
          <a:p>
            <a:fld id="{0138EDA3-173C-4626-91EC-B53700761686}" type="datetimeFigureOut">
              <a:rPr lang="fr-CA" smtClean="0"/>
              <a:t>2026-01-04</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2319241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Date Placeholder 2"/>
          <p:cNvSpPr>
            <a:spLocks noGrp="1"/>
          </p:cNvSpPr>
          <p:nvPr>
            <p:ph type="dt" sz="half" idx="10"/>
          </p:nvPr>
        </p:nvSpPr>
        <p:spPr/>
        <p:txBody>
          <a:bodyPr/>
          <a:lstStyle/>
          <a:p>
            <a:fld id="{0138EDA3-173C-4626-91EC-B53700761686}" type="datetimeFigureOut">
              <a:rPr lang="fr-CA" smtClean="0"/>
              <a:t>2026-01-04</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1960744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38EDA3-173C-4626-91EC-B53700761686}" type="datetimeFigureOut">
              <a:rPr lang="fr-CA" smtClean="0"/>
              <a:t>2026-01-04</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1788922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38EDA3-173C-4626-91EC-B53700761686}" type="datetimeFigureOut">
              <a:rPr lang="fr-CA" smtClean="0"/>
              <a:t>2026-01-04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1175329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138EDA3-173C-4626-91EC-B53700761686}" type="datetimeFigureOut">
              <a:rPr lang="fr-CA" smtClean="0"/>
              <a:t>2026-01-04</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1370253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10"/>
          </p:nvPr>
        </p:nvSpPr>
        <p:spPr/>
        <p:txBody>
          <a:bodyPr/>
          <a:lstStyle/>
          <a:p>
            <a:fld id="{0138EDA3-173C-4626-91EC-B53700761686}" type="datetimeFigureOut">
              <a:rPr lang="fr-CA" smtClean="0"/>
              <a:t>2026-01-04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1709984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fr-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10"/>
          </p:nvPr>
        </p:nvSpPr>
        <p:spPr/>
        <p:txBody>
          <a:bodyPr/>
          <a:lstStyle/>
          <a:p>
            <a:fld id="{0138EDA3-173C-4626-91EC-B53700761686}" type="datetimeFigureOut">
              <a:rPr lang="fr-CA" smtClean="0"/>
              <a:t>2026-01-04</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DA74AC1A-D36C-48A1-9841-E082BCCD2260}" type="slidenum">
              <a:rPr lang="fr-CA" smtClean="0"/>
              <a:t>‹#›</a:t>
            </a:fld>
            <a:endParaRPr lang="fr-CA"/>
          </a:p>
        </p:txBody>
      </p:sp>
    </p:spTree>
    <p:extLst>
      <p:ext uri="{BB962C8B-B14F-4D97-AF65-F5344CB8AC3E}">
        <p14:creationId xmlns:p14="http://schemas.microsoft.com/office/powerpoint/2010/main" val="2251036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38EDA3-173C-4626-91EC-B53700761686}" type="datetimeFigureOut">
              <a:rPr lang="fr-CA" smtClean="0"/>
              <a:t>2026-01-04</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74AC1A-D36C-48A1-9841-E082BCCD2260}" type="slidenum">
              <a:rPr lang="fr-CA" smtClean="0"/>
              <a:t>‹#›</a:t>
            </a:fld>
            <a:endParaRPr lang="fr-CA"/>
          </a:p>
        </p:txBody>
      </p:sp>
    </p:spTree>
    <p:extLst>
      <p:ext uri="{BB962C8B-B14F-4D97-AF65-F5344CB8AC3E}">
        <p14:creationId xmlns:p14="http://schemas.microsoft.com/office/powerpoint/2010/main" val="1257547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CA" dirty="0"/>
              <a:t>COMM 407 Real Estate Economics</a:t>
            </a:r>
          </a:p>
        </p:txBody>
      </p:sp>
      <p:sp>
        <p:nvSpPr>
          <p:cNvPr id="3" name="Subtitle 2"/>
          <p:cNvSpPr>
            <a:spLocks noGrp="1"/>
          </p:cNvSpPr>
          <p:nvPr>
            <p:ph type="subTitle" idx="1"/>
          </p:nvPr>
        </p:nvSpPr>
        <p:spPr/>
        <p:txBody>
          <a:bodyPr/>
          <a:lstStyle/>
          <a:p>
            <a:endParaRPr lang="fr-CA"/>
          </a:p>
        </p:txBody>
      </p:sp>
    </p:spTree>
    <p:extLst>
      <p:ext uri="{BB962C8B-B14F-4D97-AF65-F5344CB8AC3E}">
        <p14:creationId xmlns:p14="http://schemas.microsoft.com/office/powerpoint/2010/main" val="162209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AA7AB-A5CC-3048-A98B-B085723F438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98D73AE-FBB3-D349-9566-97227289985D}"/>
              </a:ext>
            </a:extLst>
          </p:cNvPr>
          <p:cNvSpPr>
            <a:spLocks noGrp="1"/>
          </p:cNvSpPr>
          <p:nvPr>
            <p:ph idx="1"/>
          </p:nvPr>
        </p:nvSpPr>
        <p:spPr/>
        <p:txBody>
          <a:bodyPr/>
          <a:lstStyle/>
          <a:p>
            <a:pPr marL="0" indent="0">
              <a:buNone/>
            </a:pPr>
            <a:r>
              <a:rPr lang="en-CA" dirty="0"/>
              <a:t>I would like to begin by acknowledging that the land on which we gather is the traditional, ancestral, and unceded territory of the </a:t>
            </a:r>
            <a:r>
              <a:rPr lang="en-CA" dirty="0" err="1"/>
              <a:t>xwmə</a:t>
            </a:r>
            <a:r>
              <a:rPr lang="el-GR" dirty="0"/>
              <a:t>θ</a:t>
            </a:r>
            <a:r>
              <a:rPr lang="en-CA" dirty="0" err="1"/>
              <a:t>kwəy̓əm</a:t>
            </a:r>
            <a:r>
              <a:rPr lang="en-CA" dirty="0"/>
              <a:t> (</a:t>
            </a:r>
            <a:r>
              <a:rPr lang="en-CA" dirty="0" err="1"/>
              <a:t>Musqueam</a:t>
            </a:r>
            <a:r>
              <a:rPr lang="en-CA" dirty="0"/>
              <a:t>) People.</a:t>
            </a:r>
            <a:endParaRPr lang="en-US" dirty="0"/>
          </a:p>
        </p:txBody>
      </p:sp>
    </p:spTree>
    <p:extLst>
      <p:ext uri="{BB962C8B-B14F-4D97-AF65-F5344CB8AC3E}">
        <p14:creationId xmlns:p14="http://schemas.microsoft.com/office/powerpoint/2010/main" val="626408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Sanghoon Lee</a:t>
            </a:r>
          </a:p>
        </p:txBody>
      </p:sp>
      <p:sp>
        <p:nvSpPr>
          <p:cNvPr id="3" name="Content Placeholder 2"/>
          <p:cNvSpPr>
            <a:spLocks noGrp="1"/>
          </p:cNvSpPr>
          <p:nvPr>
            <p:ph idx="1"/>
          </p:nvPr>
        </p:nvSpPr>
        <p:spPr/>
        <p:txBody>
          <a:bodyPr/>
          <a:lstStyle/>
          <a:p>
            <a:r>
              <a:rPr lang="fr-CA" dirty="0" err="1"/>
              <a:t>Grew</a:t>
            </a:r>
            <a:r>
              <a:rPr lang="fr-CA" dirty="0"/>
              <a:t> up in Seoul, </a:t>
            </a:r>
            <a:r>
              <a:rPr lang="fr-CA" dirty="0" err="1"/>
              <a:t>Korea</a:t>
            </a:r>
            <a:r>
              <a:rPr lang="fr-CA" dirty="0"/>
              <a:t>.</a:t>
            </a:r>
          </a:p>
          <a:p>
            <a:r>
              <a:rPr lang="fr-CA" dirty="0" err="1"/>
              <a:t>Attended</a:t>
            </a:r>
            <a:r>
              <a:rPr lang="fr-CA" dirty="0"/>
              <a:t> Seoul National </a:t>
            </a:r>
            <a:r>
              <a:rPr lang="fr-CA" dirty="0" err="1"/>
              <a:t>University</a:t>
            </a:r>
            <a:r>
              <a:rPr lang="fr-CA" dirty="0"/>
              <a:t>, BA in Economics (2000)</a:t>
            </a:r>
          </a:p>
          <a:p>
            <a:r>
              <a:rPr lang="fr-CA" dirty="0"/>
              <a:t>U of Minnesota, PhD in Economics (2005)</a:t>
            </a:r>
          </a:p>
          <a:p>
            <a:r>
              <a:rPr lang="fr-CA" dirty="0" err="1"/>
              <a:t>Started</a:t>
            </a:r>
            <a:r>
              <a:rPr lang="fr-CA" dirty="0"/>
              <a:t> at Sauder as assistant </a:t>
            </a:r>
            <a:r>
              <a:rPr lang="fr-CA" dirty="0" err="1"/>
              <a:t>professor</a:t>
            </a:r>
            <a:r>
              <a:rPr lang="fr-CA" dirty="0"/>
              <a:t> (2005). </a:t>
            </a:r>
          </a:p>
          <a:p>
            <a:r>
              <a:rPr lang="fr-CA" dirty="0" err="1"/>
              <a:t>Moved</a:t>
            </a:r>
            <a:r>
              <a:rPr lang="fr-CA" dirty="0"/>
              <a:t> to Vancouver. Met </a:t>
            </a:r>
            <a:r>
              <a:rPr lang="fr-CA" dirty="0" err="1"/>
              <a:t>my</a:t>
            </a:r>
            <a:r>
              <a:rPr lang="fr-CA" dirty="0"/>
              <a:t> </a:t>
            </a:r>
            <a:r>
              <a:rPr lang="fr-CA" dirty="0" err="1"/>
              <a:t>wife</a:t>
            </a:r>
            <a:r>
              <a:rPr lang="fr-CA" dirty="0"/>
              <a:t>.</a:t>
            </a:r>
          </a:p>
          <a:p>
            <a:r>
              <a:rPr lang="fr-CA" dirty="0"/>
              <a:t>Have </a:t>
            </a:r>
            <a:r>
              <a:rPr lang="fr-CA" dirty="0" err="1"/>
              <a:t>two</a:t>
            </a:r>
            <a:r>
              <a:rPr lang="fr-CA" dirty="0"/>
              <a:t> </a:t>
            </a:r>
            <a:r>
              <a:rPr lang="fr-CA" dirty="0" err="1"/>
              <a:t>daughters</a:t>
            </a:r>
            <a:r>
              <a:rPr lang="fr-CA" dirty="0"/>
              <a:t> (13 and 17 </a:t>
            </a:r>
            <a:r>
              <a:rPr lang="fr-CA" dirty="0" err="1"/>
              <a:t>years</a:t>
            </a:r>
            <a:r>
              <a:rPr lang="fr-CA" dirty="0"/>
              <a:t> </a:t>
            </a:r>
            <a:r>
              <a:rPr lang="fr-CA" dirty="0" err="1"/>
              <a:t>old</a:t>
            </a:r>
            <a:r>
              <a:rPr lang="fr-CA" dirty="0"/>
              <a:t> </a:t>
            </a:r>
            <a:r>
              <a:rPr lang="fr-CA" dirty="0" err="1"/>
              <a:t>now</a:t>
            </a:r>
            <a:r>
              <a:rPr lang="fr-CA" dirty="0"/>
              <a:t>).</a:t>
            </a:r>
          </a:p>
          <a:p>
            <a:r>
              <a:rPr lang="fr-CA" dirty="0" err="1"/>
              <a:t>Associate</a:t>
            </a:r>
            <a:r>
              <a:rPr lang="fr-CA" dirty="0"/>
              <a:t> </a:t>
            </a:r>
            <a:r>
              <a:rPr lang="fr-CA" dirty="0" err="1"/>
              <a:t>professor</a:t>
            </a:r>
            <a:r>
              <a:rPr lang="fr-CA" dirty="0"/>
              <a:t> at Sauder, </a:t>
            </a:r>
            <a:r>
              <a:rPr lang="fr-CA" dirty="0" err="1"/>
              <a:t>with</a:t>
            </a:r>
            <a:r>
              <a:rPr lang="fr-CA" dirty="0"/>
              <a:t> tenure (2015)</a:t>
            </a:r>
          </a:p>
          <a:p>
            <a:r>
              <a:rPr lang="fr-CA" dirty="0" err="1"/>
              <a:t>Like</a:t>
            </a:r>
            <a:r>
              <a:rPr lang="fr-CA" dirty="0"/>
              <a:t> </a:t>
            </a:r>
            <a:r>
              <a:rPr lang="fr-CA" dirty="0" err="1"/>
              <a:t>meditation</a:t>
            </a:r>
            <a:r>
              <a:rPr lang="fr-CA" dirty="0"/>
              <a:t> and VR </a:t>
            </a:r>
            <a:r>
              <a:rPr lang="fr-CA" dirty="0" err="1"/>
              <a:t>games</a:t>
            </a:r>
            <a:r>
              <a:rPr lang="fr-CA" dirty="0"/>
              <a:t>.</a:t>
            </a:r>
          </a:p>
          <a:p>
            <a:endParaRPr lang="fr-CA" dirty="0"/>
          </a:p>
        </p:txBody>
      </p:sp>
    </p:spTree>
    <p:extLst>
      <p:ext uri="{BB962C8B-B14F-4D97-AF65-F5344CB8AC3E}">
        <p14:creationId xmlns:p14="http://schemas.microsoft.com/office/powerpoint/2010/main" val="3111791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Goal</a:t>
            </a:r>
            <a:endParaRPr lang="fr-CA" dirty="0"/>
          </a:p>
        </p:txBody>
      </p:sp>
      <p:sp>
        <p:nvSpPr>
          <p:cNvPr id="3" name="Content Placeholder 2"/>
          <p:cNvSpPr>
            <a:spLocks noGrp="1"/>
          </p:cNvSpPr>
          <p:nvPr>
            <p:ph idx="1"/>
          </p:nvPr>
        </p:nvSpPr>
        <p:spPr/>
        <p:txBody>
          <a:bodyPr>
            <a:normAutofit/>
          </a:bodyPr>
          <a:lstStyle/>
          <a:p>
            <a:r>
              <a:rPr lang="fr-CA" dirty="0"/>
              <a:t> </a:t>
            </a:r>
            <a:r>
              <a:rPr lang="en-US" dirty="0"/>
              <a:t>In this course we will learn how to conduct data analysis using real estate data.</a:t>
            </a:r>
          </a:p>
          <a:p>
            <a:pPr lvl="1"/>
            <a:r>
              <a:rPr lang="en-US" dirty="0"/>
              <a:t>This is a companion course of COMM 306 which focuses on theories.</a:t>
            </a:r>
          </a:p>
          <a:p>
            <a:pPr lvl="1"/>
            <a:r>
              <a:rPr lang="en-US" dirty="0"/>
              <a:t>This course will build on COMM 205.</a:t>
            </a:r>
          </a:p>
          <a:p>
            <a:endParaRPr lang="en-US" dirty="0"/>
          </a:p>
          <a:p>
            <a:r>
              <a:rPr lang="en-US" dirty="0"/>
              <a:t>Hands-on experience with real data </a:t>
            </a:r>
          </a:p>
          <a:p>
            <a:pPr lvl="1"/>
            <a:r>
              <a:rPr lang="en-US" dirty="0"/>
              <a:t>Vancouver housing transaction data</a:t>
            </a:r>
          </a:p>
          <a:p>
            <a:pPr lvl="1"/>
            <a:r>
              <a:rPr lang="en-US" dirty="0"/>
              <a:t>Census</a:t>
            </a:r>
          </a:p>
          <a:p>
            <a:pPr lvl="1"/>
            <a:r>
              <a:rPr lang="en-US" dirty="0"/>
              <a:t>City of Vancouver open data</a:t>
            </a:r>
          </a:p>
          <a:p>
            <a:pPr lvl="1"/>
            <a:r>
              <a:rPr lang="en-US" dirty="0"/>
              <a:t>…</a:t>
            </a:r>
          </a:p>
          <a:p>
            <a:endParaRPr lang="en-US" dirty="0"/>
          </a:p>
          <a:p>
            <a:endParaRPr lang="en-US" dirty="0"/>
          </a:p>
        </p:txBody>
      </p:sp>
    </p:spTree>
    <p:extLst>
      <p:ext uri="{BB962C8B-B14F-4D97-AF65-F5344CB8AC3E}">
        <p14:creationId xmlns:p14="http://schemas.microsoft.com/office/powerpoint/2010/main" val="466418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Course Structure</a:t>
            </a:r>
          </a:p>
        </p:txBody>
      </p:sp>
      <p:sp>
        <p:nvSpPr>
          <p:cNvPr id="3" name="Content Placeholder 2"/>
          <p:cNvSpPr>
            <a:spLocks noGrp="1"/>
          </p:cNvSpPr>
          <p:nvPr>
            <p:ph idx="1"/>
          </p:nvPr>
        </p:nvSpPr>
        <p:spPr/>
        <p:txBody>
          <a:bodyPr>
            <a:normAutofit fontScale="85000" lnSpcReduction="10000"/>
          </a:bodyPr>
          <a:lstStyle/>
          <a:p>
            <a:r>
              <a:rPr lang="fr-CA" dirty="0"/>
              <a:t>Lectures</a:t>
            </a:r>
          </a:p>
          <a:p>
            <a:pPr lvl="1"/>
            <a:r>
              <a:rPr lang="fr-CA" dirty="0"/>
              <a:t>Data transformation</a:t>
            </a:r>
          </a:p>
          <a:p>
            <a:pPr lvl="1"/>
            <a:r>
              <a:rPr lang="fr-CA" dirty="0"/>
              <a:t>Data </a:t>
            </a:r>
            <a:r>
              <a:rPr lang="fr-CA" dirty="0" err="1"/>
              <a:t>visualization</a:t>
            </a:r>
            <a:endParaRPr lang="fr-CA" dirty="0"/>
          </a:p>
          <a:p>
            <a:pPr lvl="1"/>
            <a:r>
              <a:rPr lang="fr-CA" dirty="0" err="1"/>
              <a:t>Creating</a:t>
            </a:r>
            <a:r>
              <a:rPr lang="fr-CA" dirty="0"/>
              <a:t> </a:t>
            </a:r>
            <a:r>
              <a:rPr lang="fr-CA" dirty="0" err="1"/>
              <a:t>maps</a:t>
            </a:r>
            <a:r>
              <a:rPr lang="fr-CA" dirty="0"/>
              <a:t> and spatial </a:t>
            </a:r>
            <a:r>
              <a:rPr lang="fr-CA" dirty="0" err="1"/>
              <a:t>analysis</a:t>
            </a:r>
            <a:endParaRPr lang="fr-CA" dirty="0"/>
          </a:p>
          <a:p>
            <a:r>
              <a:rPr lang="en-US" dirty="0"/>
              <a:t>Four </a:t>
            </a:r>
            <a:r>
              <a:rPr lang="en-US" dirty="0" err="1"/>
              <a:t>DataCamp</a:t>
            </a:r>
            <a:r>
              <a:rPr lang="en-US" dirty="0"/>
              <a:t> assignments, due on Jan 25, Feb 8, Mar 1, Mar 22.</a:t>
            </a:r>
            <a:endParaRPr lang="fr-CA" dirty="0"/>
          </a:p>
          <a:p>
            <a:r>
              <a:rPr lang="fr-CA" dirty="0" err="1"/>
              <a:t>Midterm</a:t>
            </a:r>
            <a:r>
              <a:rPr lang="fr-CA" dirty="0"/>
              <a:t> exam on Mar 5, 7pm in IRC1.</a:t>
            </a:r>
          </a:p>
          <a:p>
            <a:r>
              <a:rPr lang="fr-CA" dirty="0" err="1"/>
              <a:t>Individual</a:t>
            </a:r>
            <a:r>
              <a:rPr lang="fr-CA" dirty="0"/>
              <a:t> </a:t>
            </a:r>
            <a:r>
              <a:rPr lang="fr-CA" dirty="0" err="1"/>
              <a:t>project</a:t>
            </a:r>
            <a:endParaRPr lang="fr-CA" dirty="0"/>
          </a:p>
          <a:p>
            <a:pPr lvl="1"/>
            <a:r>
              <a:rPr lang="fr-CA" dirty="0" err="1"/>
              <a:t>Create</a:t>
            </a:r>
            <a:r>
              <a:rPr lang="fr-CA" dirty="0"/>
              <a:t> one figure </a:t>
            </a:r>
            <a:r>
              <a:rPr lang="fr-CA" dirty="0" err="1"/>
              <a:t>using</a:t>
            </a:r>
            <a:r>
              <a:rPr lang="fr-CA" dirty="0"/>
              <a:t> </a:t>
            </a:r>
            <a:r>
              <a:rPr lang="fr-CA" dirty="0" err="1"/>
              <a:t>Census</a:t>
            </a:r>
            <a:r>
              <a:rPr lang="fr-CA" dirty="0"/>
              <a:t> PUMF data </a:t>
            </a:r>
            <a:r>
              <a:rPr lang="fr-CA" dirty="0" err="1"/>
              <a:t>with</a:t>
            </a:r>
            <a:r>
              <a:rPr lang="fr-CA" dirty="0"/>
              <a:t> R and </a:t>
            </a:r>
            <a:r>
              <a:rPr lang="fr-CA" dirty="0" err="1"/>
              <a:t>present</a:t>
            </a:r>
            <a:r>
              <a:rPr lang="fr-CA" dirty="0"/>
              <a:t> </a:t>
            </a:r>
            <a:r>
              <a:rPr lang="fr-CA" dirty="0" err="1"/>
              <a:t>it</a:t>
            </a:r>
            <a:r>
              <a:rPr lang="fr-CA" dirty="0"/>
              <a:t> in class on </a:t>
            </a:r>
            <a:r>
              <a:rPr lang="fr-CA" dirty="0" err="1"/>
              <a:t>Feb</a:t>
            </a:r>
            <a:r>
              <a:rPr lang="fr-CA" dirty="0"/>
              <a:t> 24 and 26.</a:t>
            </a:r>
          </a:p>
          <a:p>
            <a:r>
              <a:rPr lang="fr-CA" dirty="0"/>
              <a:t>Group </a:t>
            </a:r>
            <a:r>
              <a:rPr lang="fr-CA" dirty="0" err="1"/>
              <a:t>project</a:t>
            </a:r>
            <a:endParaRPr lang="fr-CA" dirty="0"/>
          </a:p>
          <a:p>
            <a:pPr lvl="1"/>
            <a:r>
              <a:rPr lang="fr-CA" dirty="0"/>
              <a:t>3 </a:t>
            </a:r>
            <a:r>
              <a:rPr lang="fr-CA" dirty="0" err="1"/>
              <a:t>students</a:t>
            </a:r>
            <a:r>
              <a:rPr lang="fr-CA" dirty="0"/>
              <a:t> per group. </a:t>
            </a:r>
            <a:r>
              <a:rPr lang="fr-CA" dirty="0" err="1"/>
              <a:t>Choose</a:t>
            </a:r>
            <a:r>
              <a:rPr lang="fr-CA" dirty="0"/>
              <a:t> </a:t>
            </a:r>
            <a:r>
              <a:rPr lang="fr-CA" dirty="0" err="1"/>
              <a:t>your</a:t>
            </a:r>
            <a:r>
              <a:rPr lang="fr-CA" dirty="0"/>
              <a:t> </a:t>
            </a:r>
            <a:r>
              <a:rPr lang="fr-CA" dirty="0" err="1"/>
              <a:t>own</a:t>
            </a:r>
            <a:r>
              <a:rPr lang="fr-CA" dirty="0"/>
              <a:t> group </a:t>
            </a:r>
            <a:r>
              <a:rPr lang="fr-CA" dirty="0" err="1"/>
              <a:t>members</a:t>
            </a:r>
            <a:r>
              <a:rPr lang="fr-CA" dirty="0"/>
              <a:t> by </a:t>
            </a:r>
            <a:r>
              <a:rPr lang="fr-CA" dirty="0" err="1"/>
              <a:t>Feb</a:t>
            </a:r>
            <a:r>
              <a:rPr lang="fr-CA" dirty="0"/>
              <a:t> 23-28.</a:t>
            </a:r>
          </a:p>
          <a:p>
            <a:pPr lvl="1"/>
            <a:r>
              <a:rPr lang="fr-CA" dirty="0" err="1"/>
              <a:t>Presentation</a:t>
            </a:r>
            <a:r>
              <a:rPr lang="fr-CA" dirty="0"/>
              <a:t> on Mar 31 and </a:t>
            </a:r>
            <a:r>
              <a:rPr lang="fr-CA" dirty="0" err="1"/>
              <a:t>Apr</a:t>
            </a:r>
            <a:r>
              <a:rPr lang="fr-CA" dirty="0"/>
              <a:t> 2. </a:t>
            </a:r>
          </a:p>
          <a:p>
            <a:r>
              <a:rPr lang="en-US" dirty="0"/>
              <a:t>Final exam</a:t>
            </a:r>
          </a:p>
        </p:txBody>
      </p:sp>
    </p:spTree>
    <p:extLst>
      <p:ext uri="{BB962C8B-B14F-4D97-AF65-F5344CB8AC3E}">
        <p14:creationId xmlns:p14="http://schemas.microsoft.com/office/powerpoint/2010/main" val="2471366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Grade</a:t>
            </a:r>
          </a:p>
        </p:txBody>
      </p:sp>
      <p:sp>
        <p:nvSpPr>
          <p:cNvPr id="3" name="Content Placeholder 2"/>
          <p:cNvSpPr>
            <a:spLocks noGrp="1"/>
          </p:cNvSpPr>
          <p:nvPr>
            <p:ph idx="1"/>
          </p:nvPr>
        </p:nvSpPr>
        <p:spPr/>
        <p:txBody>
          <a:bodyPr/>
          <a:lstStyle/>
          <a:p>
            <a:r>
              <a:rPr lang="en-US" dirty="0"/>
              <a:t>Participation 10%</a:t>
            </a:r>
          </a:p>
          <a:p>
            <a:r>
              <a:rPr lang="en-US" dirty="0" err="1"/>
              <a:t>DataCamp</a:t>
            </a:r>
            <a:r>
              <a:rPr lang="en-US" dirty="0"/>
              <a:t> assignments 10%</a:t>
            </a:r>
          </a:p>
          <a:p>
            <a:r>
              <a:rPr lang="en-US" dirty="0"/>
              <a:t>Individual presentation 10%</a:t>
            </a:r>
          </a:p>
          <a:p>
            <a:r>
              <a:rPr lang="en-US" dirty="0"/>
              <a:t>Group presentation 20%. </a:t>
            </a:r>
          </a:p>
          <a:p>
            <a:r>
              <a:rPr lang="en-US" dirty="0"/>
              <a:t>Midterm exam 20%</a:t>
            </a:r>
          </a:p>
          <a:p>
            <a:r>
              <a:rPr lang="en-US" dirty="0"/>
              <a:t>Final exam 30%</a:t>
            </a:r>
          </a:p>
          <a:p>
            <a:endParaRPr lang="en-US" dirty="0"/>
          </a:p>
        </p:txBody>
      </p:sp>
    </p:spTree>
    <p:extLst>
      <p:ext uri="{BB962C8B-B14F-4D97-AF65-F5344CB8AC3E}">
        <p14:creationId xmlns:p14="http://schemas.microsoft.com/office/powerpoint/2010/main" val="1613261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Class participation</a:t>
            </a:r>
            <a:endParaRPr lang="fr-CA" dirty="0"/>
          </a:p>
        </p:txBody>
      </p:sp>
      <p:sp>
        <p:nvSpPr>
          <p:cNvPr id="3" name="Content Placeholder 2"/>
          <p:cNvSpPr>
            <a:spLocks noGrp="1"/>
          </p:cNvSpPr>
          <p:nvPr>
            <p:ph idx="1"/>
          </p:nvPr>
        </p:nvSpPr>
        <p:spPr/>
        <p:txBody>
          <a:bodyPr/>
          <a:lstStyle/>
          <a:p>
            <a:pPr lvl="0"/>
            <a:r>
              <a:rPr lang="en-US" dirty="0"/>
              <a:t>The quality and quantity of your participation in class. </a:t>
            </a:r>
          </a:p>
          <a:p>
            <a:pPr lvl="0"/>
            <a:r>
              <a:rPr lang="en-US" dirty="0" err="1"/>
              <a:t>iClicker</a:t>
            </a:r>
            <a:r>
              <a:rPr lang="en-US" dirty="0"/>
              <a:t> </a:t>
            </a:r>
          </a:p>
          <a:p>
            <a:pPr lvl="1"/>
            <a:r>
              <a:rPr lang="en-US" dirty="0"/>
              <a:t>Participating in </a:t>
            </a:r>
            <a:r>
              <a:rPr lang="en-US" dirty="0" err="1"/>
              <a:t>iClicker</a:t>
            </a:r>
            <a:r>
              <a:rPr lang="en-US" dirty="0"/>
              <a:t> polls outside the classroom is considered an academic misconduct and will result in a penalty up to 10 points in the final grade each time. </a:t>
            </a:r>
          </a:p>
          <a:p>
            <a:pPr lvl="0"/>
            <a:r>
              <a:rPr lang="en-US" dirty="0"/>
              <a:t>Piazza – providing good answers to other students’ questions.</a:t>
            </a:r>
          </a:p>
          <a:p>
            <a:r>
              <a:rPr lang="en-US" dirty="0"/>
              <a:t>Any disruptive behavior in class will significantly lower your class participation grade. </a:t>
            </a:r>
            <a:endParaRPr lang="fr-CA" dirty="0"/>
          </a:p>
        </p:txBody>
      </p:sp>
    </p:spTree>
    <p:extLst>
      <p:ext uri="{BB962C8B-B14F-4D97-AF65-F5344CB8AC3E}">
        <p14:creationId xmlns:p14="http://schemas.microsoft.com/office/powerpoint/2010/main" val="3340342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B98D3-CFF3-4AC9-AF58-6D6CE5821DF5}"/>
              </a:ext>
            </a:extLst>
          </p:cNvPr>
          <p:cNvSpPr>
            <a:spLocks noGrp="1"/>
          </p:cNvSpPr>
          <p:nvPr>
            <p:ph type="title"/>
          </p:nvPr>
        </p:nvSpPr>
        <p:spPr/>
        <p:txBody>
          <a:bodyPr/>
          <a:lstStyle/>
          <a:p>
            <a:r>
              <a:rPr lang="en-US" dirty="0"/>
              <a:t>Individual research presentation</a:t>
            </a:r>
            <a:endParaRPr lang="en-CA" dirty="0"/>
          </a:p>
        </p:txBody>
      </p:sp>
      <p:sp>
        <p:nvSpPr>
          <p:cNvPr id="3" name="Content Placeholder 2">
            <a:extLst>
              <a:ext uri="{FF2B5EF4-FFF2-40B4-BE49-F238E27FC236}">
                <a16:creationId xmlns:a16="http://schemas.microsoft.com/office/drawing/2014/main" id="{A4C3B728-1A39-4F2A-BA09-3FE7BE9F63C2}"/>
              </a:ext>
            </a:extLst>
          </p:cNvPr>
          <p:cNvSpPr>
            <a:spLocks noGrp="1"/>
          </p:cNvSpPr>
          <p:nvPr>
            <p:ph idx="1"/>
          </p:nvPr>
        </p:nvSpPr>
        <p:spPr/>
        <p:txBody>
          <a:bodyPr>
            <a:normAutofit/>
          </a:bodyPr>
          <a:lstStyle/>
          <a:p>
            <a:r>
              <a:rPr lang="en-US" dirty="0"/>
              <a:t>Every student will find and present interesting or useful statistical facts using Canadian Census Public Use Micro File (PUMF) data. Students can pick any topics as long as they use the PUMF data.</a:t>
            </a:r>
          </a:p>
          <a:p>
            <a:r>
              <a:rPr lang="en-US" dirty="0"/>
              <a:t>Each student will prepare a two page slides, where the first page shows a figure and the second explains why the figure is interesting or useful.</a:t>
            </a:r>
          </a:p>
          <a:p>
            <a:r>
              <a:rPr lang="en-US" dirty="0"/>
              <a:t>Each student will also submit the R script that generates the figure. The script should be able to generate the figure as a PNG file.</a:t>
            </a:r>
          </a:p>
          <a:p>
            <a:r>
              <a:rPr lang="en-US" dirty="0"/>
              <a:t>The presentations will happen on Feb 24 and 26 and everyone is required to submit his or her slides by Feb 22 11:59PM.</a:t>
            </a:r>
          </a:p>
          <a:p>
            <a:endParaRPr lang="en-CA" dirty="0"/>
          </a:p>
        </p:txBody>
      </p:sp>
    </p:spTree>
    <p:extLst>
      <p:ext uri="{BB962C8B-B14F-4D97-AF65-F5344CB8AC3E}">
        <p14:creationId xmlns:p14="http://schemas.microsoft.com/office/powerpoint/2010/main" val="2262322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Group </a:t>
            </a:r>
            <a:r>
              <a:rPr lang="fr-CA" dirty="0" err="1"/>
              <a:t>research</a:t>
            </a:r>
            <a:r>
              <a:rPr lang="fr-CA" dirty="0"/>
              <a:t> </a:t>
            </a:r>
            <a:r>
              <a:rPr lang="fr-CA" dirty="0" err="1"/>
              <a:t>presentation</a:t>
            </a:r>
            <a:endParaRPr lang="fr-CA" dirty="0"/>
          </a:p>
        </p:txBody>
      </p:sp>
      <p:sp>
        <p:nvSpPr>
          <p:cNvPr id="3" name="Content Placeholder 2"/>
          <p:cNvSpPr>
            <a:spLocks noGrp="1"/>
          </p:cNvSpPr>
          <p:nvPr>
            <p:ph idx="1"/>
          </p:nvPr>
        </p:nvSpPr>
        <p:spPr/>
        <p:txBody>
          <a:bodyPr>
            <a:normAutofit/>
          </a:bodyPr>
          <a:lstStyle/>
          <a:p>
            <a:r>
              <a:rPr lang="en-US" dirty="0"/>
              <a:t>Each group will pick their research question. Research questions should be related to real estate or urban public policy (e.g., housing, transportation, crime, segregation, education, public health…).  </a:t>
            </a:r>
          </a:p>
          <a:p>
            <a:r>
              <a:rPr lang="en-US" dirty="0"/>
              <a:t>Each group will consist of 3 students. Form your own group members.</a:t>
            </a:r>
          </a:p>
          <a:p>
            <a:r>
              <a:rPr lang="en-US" dirty="0"/>
              <a:t>Only one group will be allowed for each question. </a:t>
            </a:r>
          </a:p>
          <a:p>
            <a:r>
              <a:rPr lang="en-US" dirty="0"/>
              <a:t>Each presentation will consist of a 10 minute presentation followed by 3 minute </a:t>
            </a:r>
            <a:r>
              <a:rPr lang="en-US" dirty="0" err="1"/>
              <a:t>QnAs</a:t>
            </a:r>
            <a:r>
              <a:rPr lang="en-US" dirty="0"/>
              <a:t>.</a:t>
            </a:r>
          </a:p>
          <a:p>
            <a:pPr marL="0" indent="0">
              <a:buNone/>
            </a:pPr>
            <a:endParaRPr lang="fr-CA" dirty="0"/>
          </a:p>
        </p:txBody>
      </p:sp>
    </p:spTree>
    <p:extLst>
      <p:ext uri="{BB962C8B-B14F-4D97-AF65-F5344CB8AC3E}">
        <p14:creationId xmlns:p14="http://schemas.microsoft.com/office/powerpoint/2010/main" val="2938739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0875"/>
          </a:xfrm>
        </p:spPr>
        <p:txBody>
          <a:bodyPr>
            <a:normAutofit fontScale="90000"/>
          </a:bodyPr>
          <a:lstStyle/>
          <a:p>
            <a:r>
              <a:rPr lang="en-US" dirty="0"/>
              <a:t>Important dates</a:t>
            </a:r>
          </a:p>
        </p:txBody>
      </p:sp>
      <p:sp>
        <p:nvSpPr>
          <p:cNvPr id="3" name="Content Placeholder 2"/>
          <p:cNvSpPr>
            <a:spLocks noGrp="1"/>
          </p:cNvSpPr>
          <p:nvPr>
            <p:ph idx="1"/>
          </p:nvPr>
        </p:nvSpPr>
        <p:spPr>
          <a:xfrm>
            <a:off x="838200" y="1132114"/>
            <a:ext cx="10515600" cy="5044849"/>
          </a:xfrm>
        </p:spPr>
        <p:txBody>
          <a:bodyPr>
            <a:noAutofit/>
          </a:bodyPr>
          <a:lstStyle/>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On Feb 12, individual presentation dates will be announced. Those who cannot make one of the presentation dates should inform the instructor by Feb 10.</a:t>
            </a:r>
          </a:p>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By Feb 22 11:59pm, all students will submit their individual presentation slides. </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On Feb 24 and 26, students will present their individual projects.</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pPr marL="34290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From Feb 23 to Feb 28 11:59 pm, students will register their team members at Canvas. Each group consists of 3 members. Those who do not join a team will be randomly assigned. </a:t>
            </a:r>
          </a:p>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On Mar 5, midterm exam from 7pm to 8 in IRC1. (Classes canceled on the exam day.)</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From Mar </a:t>
            </a:r>
            <a:r>
              <a:rPr lang="en-US" sz="1600" dirty="0">
                <a:latin typeface="Calibri" panose="020F0502020204030204" pitchFamily="34" charset="0"/>
                <a:ea typeface="Malgun Gothic" panose="020B0503020000020004" pitchFamily="34" charset="-127"/>
                <a:cs typeface="Times New Roman" panose="02020603050405020304" pitchFamily="18" charset="0"/>
              </a:rPr>
              <a:t>7</a:t>
            </a: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 (7 pm), teams can register their research questions on a shared Google spreadsheet. In order to avoid overlapping research questions, only one team will be allowed for a question (first come, first serve).</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On Mar 19, presentation dates will be announced. The teams that cannot make one of the presentation dates should inform the instructor by March 17 11:59pm (e.g., an exam or another presentation on the same day).</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pPr marL="342900" lvl="0" indent="-342900">
              <a:lnSpc>
                <a:spcPct val="107000"/>
              </a:lnSpc>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By Mar </a:t>
            </a:r>
            <a:r>
              <a:rPr lang="en-US" sz="1600" dirty="0">
                <a:latin typeface="Calibri" panose="020F0502020204030204" pitchFamily="34" charset="0"/>
                <a:ea typeface="Malgun Gothic" panose="020B0503020000020004" pitchFamily="34" charset="-127"/>
                <a:cs typeface="Times New Roman" panose="02020603050405020304" pitchFamily="18" charset="0"/>
              </a:rPr>
              <a:t>28</a:t>
            </a: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 11:59pm, all teams should submit the FINAL version of their presentation slides at Canvas, regardless of their presentation dates.</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pPr marL="342900" lvl="0" indent="-342900">
              <a:lnSpc>
                <a:spcPct val="107000"/>
              </a:lnSpc>
              <a:spcAft>
                <a:spcPts val="800"/>
              </a:spcAft>
              <a:buFont typeface="Symbol" pitchFamily="2" charset="2"/>
              <a:buChar char=""/>
            </a:pP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On </a:t>
            </a:r>
            <a:r>
              <a:rPr lang="en-US" sz="1600" dirty="0">
                <a:latin typeface="Calibri" panose="020F0502020204030204" pitchFamily="34" charset="0"/>
                <a:ea typeface="Malgun Gothic" panose="020B0503020000020004" pitchFamily="34" charset="-127"/>
                <a:cs typeface="Times New Roman" panose="02020603050405020304" pitchFamily="18" charset="0"/>
              </a:rPr>
              <a:t>Mar</a:t>
            </a:r>
            <a:r>
              <a:rPr lang="en-US" sz="1600" dirty="0">
                <a:effectLst/>
                <a:latin typeface="Calibri" panose="020F0502020204030204" pitchFamily="34" charset="0"/>
                <a:ea typeface="Malgun Gothic" panose="020B0503020000020004" pitchFamily="34" charset="-127"/>
                <a:cs typeface="Times New Roman" panose="02020603050405020304" pitchFamily="18" charset="0"/>
              </a:rPr>
              <a:t> 31 and April 2, teams will present their research outcome during class.</a:t>
            </a:r>
            <a:endParaRPr lang="en-CA" sz="1600" dirty="0">
              <a:effectLst/>
              <a:latin typeface="Calibri" panose="020F0502020204030204" pitchFamily="34" charset="0"/>
              <a:ea typeface="Malgun Gothic" panose="020B0503020000020004" pitchFamily="34" charset="-127"/>
              <a:cs typeface="Times New Roman" panose="02020603050405020304" pitchFamily="18" charset="0"/>
            </a:endParaRPr>
          </a:p>
          <a:p>
            <a:endParaRPr lang="en-US" sz="1800" dirty="0"/>
          </a:p>
        </p:txBody>
      </p:sp>
    </p:spTree>
    <p:extLst>
      <p:ext uri="{BB962C8B-B14F-4D97-AF65-F5344CB8AC3E}">
        <p14:creationId xmlns:p14="http://schemas.microsoft.com/office/powerpoint/2010/main" val="738109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a:t>Please</a:t>
            </a:r>
            <a:r>
              <a:rPr lang="fr-CA" dirty="0"/>
              <a:t> </a:t>
            </a:r>
            <a:r>
              <a:rPr lang="fr-CA" dirty="0" err="1"/>
              <a:t>read</a:t>
            </a:r>
            <a:r>
              <a:rPr lang="fr-CA" dirty="0"/>
              <a:t> the syllabus</a:t>
            </a:r>
          </a:p>
        </p:txBody>
      </p:sp>
      <p:sp>
        <p:nvSpPr>
          <p:cNvPr id="3" name="Content Placeholder 2"/>
          <p:cNvSpPr>
            <a:spLocks noGrp="1"/>
          </p:cNvSpPr>
          <p:nvPr>
            <p:ph idx="1"/>
          </p:nvPr>
        </p:nvSpPr>
        <p:spPr/>
        <p:txBody>
          <a:bodyPr/>
          <a:lstStyle/>
          <a:p>
            <a:pPr marL="0" indent="0">
              <a:buNone/>
            </a:pPr>
            <a:endParaRPr lang="fr-CA" dirty="0"/>
          </a:p>
          <a:p>
            <a:pPr marL="457200" lvl="1" indent="0">
              <a:buNone/>
            </a:pPr>
            <a:r>
              <a:rPr lang="fr-CA" dirty="0"/>
              <a:t> </a:t>
            </a:r>
          </a:p>
        </p:txBody>
      </p:sp>
    </p:spTree>
    <p:extLst>
      <p:ext uri="{BB962C8B-B14F-4D97-AF65-F5344CB8AC3E}">
        <p14:creationId xmlns:p14="http://schemas.microsoft.com/office/powerpoint/2010/main" val="3307854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a:t>iClicker</a:t>
            </a:r>
            <a:r>
              <a:rPr lang="fr-CA" dirty="0"/>
              <a:t> </a:t>
            </a:r>
            <a:r>
              <a:rPr lang="fr-CA" dirty="0" err="1"/>
              <a:t>Reef</a:t>
            </a:r>
            <a:endParaRPr lang="fr-CA" dirty="0"/>
          </a:p>
        </p:txBody>
      </p:sp>
      <p:sp>
        <p:nvSpPr>
          <p:cNvPr id="3" name="Content Placeholder 2"/>
          <p:cNvSpPr>
            <a:spLocks noGrp="1"/>
          </p:cNvSpPr>
          <p:nvPr>
            <p:ph idx="1"/>
          </p:nvPr>
        </p:nvSpPr>
        <p:spPr/>
        <p:txBody>
          <a:bodyPr/>
          <a:lstStyle/>
          <a:p>
            <a:r>
              <a:rPr lang="fr-CA" dirty="0"/>
              <a:t>You </a:t>
            </a:r>
            <a:r>
              <a:rPr lang="fr-CA" dirty="0" err="1"/>
              <a:t>can</a:t>
            </a:r>
            <a:r>
              <a:rPr lang="fr-CA" dirty="0"/>
              <a:t> use a smartphone or computer.</a:t>
            </a:r>
          </a:p>
          <a:p>
            <a:r>
              <a:rPr lang="fr-CA" dirty="0" err="1"/>
              <a:t>Please</a:t>
            </a:r>
            <a:r>
              <a:rPr lang="fr-CA" dirty="0"/>
              <a:t> click </a:t>
            </a:r>
            <a:r>
              <a:rPr lang="fr-CA" dirty="0" err="1"/>
              <a:t>iClicker</a:t>
            </a:r>
            <a:r>
              <a:rPr lang="fr-CA" dirty="0"/>
              <a:t> </a:t>
            </a:r>
            <a:r>
              <a:rPr lang="fr-CA" dirty="0" err="1"/>
              <a:t>Sync</a:t>
            </a:r>
            <a:r>
              <a:rPr lang="fr-CA" dirty="0"/>
              <a:t> menu at Canvas and </a:t>
            </a:r>
            <a:r>
              <a:rPr lang="fr-CA" dirty="0" err="1"/>
              <a:t>join</a:t>
            </a:r>
            <a:r>
              <a:rPr lang="fr-CA" dirty="0"/>
              <a:t> </a:t>
            </a:r>
            <a:r>
              <a:rPr lang="fr-CA" dirty="0" err="1"/>
              <a:t>this</a:t>
            </a:r>
            <a:r>
              <a:rPr lang="fr-CA" dirty="0"/>
              <a:t> course.</a:t>
            </a:r>
          </a:p>
        </p:txBody>
      </p:sp>
    </p:spTree>
    <p:extLst>
      <p:ext uri="{BB962C8B-B14F-4D97-AF65-F5344CB8AC3E}">
        <p14:creationId xmlns:p14="http://schemas.microsoft.com/office/powerpoint/2010/main" val="694534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a:t>iClicker</a:t>
            </a:r>
            <a:r>
              <a:rPr lang="fr-CA" dirty="0"/>
              <a:t> Test: </a:t>
            </a:r>
            <a:r>
              <a:rPr lang="fr-CA" dirty="0" err="1"/>
              <a:t>Which</a:t>
            </a:r>
            <a:r>
              <a:rPr lang="fr-CA" dirty="0"/>
              <a:t> continent </a:t>
            </a:r>
            <a:r>
              <a:rPr lang="fr-CA" dirty="0" err="1"/>
              <a:t>were</a:t>
            </a:r>
            <a:r>
              <a:rPr lang="fr-CA" dirty="0"/>
              <a:t> </a:t>
            </a:r>
            <a:r>
              <a:rPr lang="fr-CA" dirty="0" err="1"/>
              <a:t>you</a:t>
            </a:r>
            <a:r>
              <a:rPr lang="fr-CA" dirty="0"/>
              <a:t> </a:t>
            </a:r>
            <a:r>
              <a:rPr lang="fr-CA" dirty="0" err="1"/>
              <a:t>born</a:t>
            </a:r>
            <a:r>
              <a:rPr lang="fr-CA" dirty="0"/>
              <a:t> in?</a:t>
            </a:r>
          </a:p>
        </p:txBody>
      </p:sp>
      <p:sp>
        <p:nvSpPr>
          <p:cNvPr id="3" name="Content Placeholder 2"/>
          <p:cNvSpPr>
            <a:spLocks noGrp="1"/>
          </p:cNvSpPr>
          <p:nvPr>
            <p:ph idx="1"/>
          </p:nvPr>
        </p:nvSpPr>
        <p:spPr/>
        <p:txBody>
          <a:bodyPr/>
          <a:lstStyle/>
          <a:p>
            <a:pPr marL="514350" indent="-514350">
              <a:buFont typeface="+mj-lt"/>
              <a:buAutoNum type="alphaUcPeriod"/>
            </a:pPr>
            <a:endParaRPr lang="fr-CA" dirty="0"/>
          </a:p>
          <a:p>
            <a:pPr marL="514350" indent="-514350">
              <a:buFont typeface="+mj-lt"/>
              <a:buAutoNum type="alphaUcPeriod"/>
            </a:pPr>
            <a:r>
              <a:rPr lang="fr-CA" dirty="0" err="1"/>
              <a:t>Africa</a:t>
            </a:r>
            <a:endParaRPr lang="fr-CA" dirty="0"/>
          </a:p>
          <a:p>
            <a:pPr marL="514350" indent="-514350">
              <a:buFont typeface="+mj-lt"/>
              <a:buAutoNum type="alphaUcPeriod"/>
            </a:pPr>
            <a:r>
              <a:rPr lang="fr-CA" dirty="0"/>
              <a:t>Asia</a:t>
            </a:r>
          </a:p>
          <a:p>
            <a:pPr marL="514350" indent="-514350">
              <a:buFont typeface="+mj-lt"/>
              <a:buAutoNum type="alphaUcPeriod"/>
            </a:pPr>
            <a:r>
              <a:rPr lang="fr-CA" dirty="0" err="1"/>
              <a:t>Australia</a:t>
            </a:r>
            <a:endParaRPr lang="fr-CA" dirty="0"/>
          </a:p>
          <a:p>
            <a:pPr marL="514350" indent="-514350">
              <a:buFont typeface="+mj-lt"/>
              <a:buAutoNum type="alphaUcPeriod"/>
            </a:pPr>
            <a:r>
              <a:rPr lang="fr-CA" dirty="0"/>
              <a:t>Europe</a:t>
            </a:r>
          </a:p>
          <a:p>
            <a:pPr marL="514350" indent="-514350">
              <a:buFont typeface="+mj-lt"/>
              <a:buAutoNum type="alphaUcPeriod"/>
            </a:pPr>
            <a:r>
              <a:rPr lang="fr-CA" dirty="0" err="1"/>
              <a:t>North</a:t>
            </a:r>
            <a:r>
              <a:rPr lang="fr-CA" dirty="0"/>
              <a:t> </a:t>
            </a:r>
            <a:r>
              <a:rPr lang="fr-CA" dirty="0" err="1"/>
              <a:t>America</a:t>
            </a:r>
            <a:endParaRPr lang="fr-CA" dirty="0"/>
          </a:p>
          <a:p>
            <a:pPr marL="514350" indent="-514350">
              <a:buFont typeface="+mj-lt"/>
              <a:buAutoNum type="alphaUcPeriod"/>
            </a:pPr>
            <a:r>
              <a:rPr lang="fr-CA" dirty="0"/>
              <a:t>South </a:t>
            </a:r>
            <a:r>
              <a:rPr lang="fr-CA" dirty="0" err="1"/>
              <a:t>America</a:t>
            </a:r>
            <a:endParaRPr lang="fr-CA" dirty="0"/>
          </a:p>
          <a:p>
            <a:pPr marL="514350" indent="-514350">
              <a:buFont typeface="+mj-lt"/>
              <a:buAutoNum type="alphaUcPeriod"/>
            </a:pPr>
            <a:endParaRPr lang="fr-CA" dirty="0"/>
          </a:p>
        </p:txBody>
      </p:sp>
    </p:spTree>
    <p:extLst>
      <p:ext uri="{BB962C8B-B14F-4D97-AF65-F5344CB8AC3E}">
        <p14:creationId xmlns:p14="http://schemas.microsoft.com/office/powerpoint/2010/main" val="2724947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a:t>iClicker</a:t>
            </a:r>
            <a:r>
              <a:rPr lang="fr-CA" dirty="0"/>
              <a:t> Test: </a:t>
            </a:r>
            <a:r>
              <a:rPr lang="fr-CA" dirty="0" err="1"/>
              <a:t>What</a:t>
            </a:r>
            <a:r>
              <a:rPr lang="fr-CA" dirty="0"/>
              <a:t> </a:t>
            </a:r>
            <a:r>
              <a:rPr lang="fr-CA" dirty="0" err="1"/>
              <a:t>is</a:t>
            </a:r>
            <a:r>
              <a:rPr lang="fr-CA" dirty="0"/>
              <a:t> </a:t>
            </a:r>
            <a:r>
              <a:rPr lang="fr-CA" dirty="0" err="1"/>
              <a:t>your</a:t>
            </a:r>
            <a:r>
              <a:rPr lang="fr-CA" dirty="0"/>
              <a:t> favorite restaurant in Vancouver?</a:t>
            </a:r>
          </a:p>
        </p:txBody>
      </p:sp>
      <p:sp>
        <p:nvSpPr>
          <p:cNvPr id="3" name="Content Placeholder 2"/>
          <p:cNvSpPr>
            <a:spLocks noGrp="1"/>
          </p:cNvSpPr>
          <p:nvPr>
            <p:ph idx="1"/>
          </p:nvPr>
        </p:nvSpPr>
        <p:spPr/>
        <p:txBody>
          <a:bodyPr/>
          <a:lstStyle/>
          <a:p>
            <a:endParaRPr lang="fr-CA"/>
          </a:p>
        </p:txBody>
      </p:sp>
    </p:spTree>
    <p:extLst>
      <p:ext uri="{BB962C8B-B14F-4D97-AF65-F5344CB8AC3E}">
        <p14:creationId xmlns:p14="http://schemas.microsoft.com/office/powerpoint/2010/main" val="4181919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Piazza</a:t>
            </a:r>
          </a:p>
        </p:txBody>
      </p:sp>
      <p:sp>
        <p:nvSpPr>
          <p:cNvPr id="3" name="Content Placeholder 2"/>
          <p:cNvSpPr>
            <a:spLocks noGrp="1"/>
          </p:cNvSpPr>
          <p:nvPr>
            <p:ph idx="1"/>
          </p:nvPr>
        </p:nvSpPr>
        <p:spPr/>
        <p:txBody>
          <a:bodyPr/>
          <a:lstStyle/>
          <a:p>
            <a:r>
              <a:rPr lang="fr-CA" dirty="0" err="1"/>
              <a:t>Please</a:t>
            </a:r>
            <a:r>
              <a:rPr lang="fr-CA" dirty="0"/>
              <a:t> </a:t>
            </a:r>
            <a:r>
              <a:rPr lang="fr-CA" dirty="0" err="1"/>
              <a:t>sign</a:t>
            </a:r>
            <a:r>
              <a:rPr lang="fr-CA" dirty="0"/>
              <a:t> up </a:t>
            </a:r>
            <a:r>
              <a:rPr lang="fr-CA" dirty="0" err="1"/>
              <a:t>using</a:t>
            </a:r>
            <a:r>
              <a:rPr lang="fr-CA" dirty="0"/>
              <a:t> Piazza menu in Canvas. </a:t>
            </a:r>
          </a:p>
        </p:txBody>
      </p:sp>
    </p:spTree>
    <p:extLst>
      <p:ext uri="{BB962C8B-B14F-4D97-AF65-F5344CB8AC3E}">
        <p14:creationId xmlns:p14="http://schemas.microsoft.com/office/powerpoint/2010/main" val="1766246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a:t>DataCamp</a:t>
            </a:r>
            <a:endParaRPr lang="fr-CA" dirty="0"/>
          </a:p>
        </p:txBody>
      </p:sp>
      <p:sp>
        <p:nvSpPr>
          <p:cNvPr id="3" name="Content Placeholder 2"/>
          <p:cNvSpPr>
            <a:spLocks noGrp="1"/>
          </p:cNvSpPr>
          <p:nvPr>
            <p:ph idx="1"/>
          </p:nvPr>
        </p:nvSpPr>
        <p:spPr/>
        <p:txBody>
          <a:bodyPr/>
          <a:lstStyle/>
          <a:p>
            <a:r>
              <a:rPr lang="fr-CA" dirty="0" err="1"/>
              <a:t>Please</a:t>
            </a:r>
            <a:r>
              <a:rPr lang="fr-CA" dirty="0"/>
              <a:t> use the </a:t>
            </a:r>
            <a:r>
              <a:rPr lang="fr-CA" dirty="0" err="1"/>
              <a:t>signup</a:t>
            </a:r>
            <a:r>
              <a:rPr lang="fr-CA" dirty="0"/>
              <a:t> </a:t>
            </a:r>
            <a:r>
              <a:rPr lang="fr-CA" dirty="0" err="1"/>
              <a:t>link</a:t>
            </a:r>
            <a:r>
              <a:rPr lang="fr-CA" dirty="0"/>
              <a:t> in lecture 01 module.</a:t>
            </a:r>
          </a:p>
          <a:p>
            <a:r>
              <a:rPr lang="fr-CA" dirty="0"/>
              <a:t>You </a:t>
            </a:r>
            <a:r>
              <a:rPr lang="fr-CA" dirty="0" err="1"/>
              <a:t>will</a:t>
            </a:r>
            <a:r>
              <a:rPr lang="fr-CA" dirty="0"/>
              <a:t> </a:t>
            </a:r>
            <a:r>
              <a:rPr lang="fr-CA" dirty="0" err="1"/>
              <a:t>need</a:t>
            </a:r>
            <a:r>
              <a:rPr lang="fr-CA" dirty="0"/>
              <a:t> to use an email </a:t>
            </a:r>
            <a:r>
              <a:rPr lang="fr-CA" dirty="0" err="1"/>
              <a:t>address</a:t>
            </a:r>
            <a:r>
              <a:rPr lang="fr-CA" dirty="0"/>
              <a:t> </a:t>
            </a:r>
            <a:r>
              <a:rPr lang="fr-CA" dirty="0" err="1"/>
              <a:t>ending</a:t>
            </a:r>
            <a:r>
              <a:rPr lang="fr-CA" dirty="0"/>
              <a:t> </a:t>
            </a:r>
            <a:r>
              <a:rPr lang="fr-CA" dirty="0" err="1"/>
              <a:t>with</a:t>
            </a:r>
            <a:r>
              <a:rPr lang="fr-CA" dirty="0"/>
              <a:t> ‘</a:t>
            </a:r>
            <a:r>
              <a:rPr lang="fr-CA" dirty="0" err="1"/>
              <a:t>ubc.ca</a:t>
            </a:r>
            <a:r>
              <a:rPr lang="fr-CA" dirty="0"/>
              <a:t>’.</a:t>
            </a:r>
          </a:p>
          <a:p>
            <a:r>
              <a:rPr lang="fr-CA" dirty="0" err="1"/>
              <a:t>Try</a:t>
            </a:r>
            <a:r>
              <a:rPr lang="fr-CA" dirty="0"/>
              <a:t> </a:t>
            </a:r>
            <a:r>
              <a:rPr lang="fr-CA" dirty="0" err="1"/>
              <a:t>starting</a:t>
            </a:r>
            <a:r>
              <a:rPr lang="fr-CA" dirty="0"/>
              <a:t> the first </a:t>
            </a:r>
            <a:r>
              <a:rPr lang="fr-CA" dirty="0" err="1"/>
              <a:t>assignment</a:t>
            </a:r>
            <a:r>
              <a:rPr lang="fr-CA" dirty="0"/>
              <a:t> at the </a:t>
            </a:r>
            <a:r>
              <a:rPr lang="fr-CA" dirty="0" err="1"/>
              <a:t>DataCamp</a:t>
            </a:r>
            <a:r>
              <a:rPr lang="fr-CA" dirty="0"/>
              <a:t> </a:t>
            </a:r>
            <a:r>
              <a:rPr lang="fr-CA" dirty="0" err="1"/>
              <a:t>website</a:t>
            </a:r>
            <a:r>
              <a:rPr lang="fr-CA" dirty="0"/>
              <a:t>.</a:t>
            </a:r>
          </a:p>
          <a:p>
            <a:pPr lvl="1"/>
            <a:r>
              <a:rPr lang="fr-CA" dirty="0"/>
              <a:t>Click ‘</a:t>
            </a:r>
            <a:r>
              <a:rPr lang="fr-CA" dirty="0" err="1"/>
              <a:t>Learn</a:t>
            </a:r>
            <a:r>
              <a:rPr lang="fr-CA" dirty="0"/>
              <a:t>’ in the top menu.</a:t>
            </a:r>
          </a:p>
          <a:p>
            <a:pPr lvl="1"/>
            <a:r>
              <a:rPr lang="fr-CA" dirty="0"/>
              <a:t>Click ‘</a:t>
            </a:r>
            <a:r>
              <a:rPr lang="fr-CA" dirty="0" err="1"/>
              <a:t>Assignments</a:t>
            </a:r>
            <a:r>
              <a:rPr lang="fr-CA" dirty="0"/>
              <a:t>’ in the menu in the </a:t>
            </a:r>
            <a:r>
              <a:rPr lang="fr-CA" dirty="0" err="1"/>
              <a:t>left</a:t>
            </a:r>
            <a:r>
              <a:rPr lang="fr-CA" dirty="0"/>
              <a:t>.</a:t>
            </a:r>
          </a:p>
          <a:p>
            <a:pPr lvl="1"/>
            <a:r>
              <a:rPr lang="fr-CA" dirty="0"/>
              <a:t>Click ‘Due By’</a:t>
            </a:r>
          </a:p>
          <a:p>
            <a:pPr lvl="1"/>
            <a:r>
              <a:rPr lang="fr-CA" dirty="0"/>
              <a:t>Click ‘&gt;’ in the first </a:t>
            </a:r>
            <a:r>
              <a:rPr lang="fr-CA" dirty="0" err="1"/>
              <a:t>row</a:t>
            </a:r>
            <a:r>
              <a:rPr lang="fr-CA" dirty="0"/>
              <a:t>.</a:t>
            </a:r>
          </a:p>
          <a:p>
            <a:endParaRPr lang="fr-CA" dirty="0"/>
          </a:p>
        </p:txBody>
      </p:sp>
    </p:spTree>
    <p:extLst>
      <p:ext uri="{BB962C8B-B14F-4D97-AF65-F5344CB8AC3E}">
        <p14:creationId xmlns:p14="http://schemas.microsoft.com/office/powerpoint/2010/main" val="3167301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Questions?</a:t>
            </a:r>
          </a:p>
        </p:txBody>
      </p:sp>
      <p:sp>
        <p:nvSpPr>
          <p:cNvPr id="3" name="Content Placeholder 2"/>
          <p:cNvSpPr>
            <a:spLocks noGrp="1"/>
          </p:cNvSpPr>
          <p:nvPr>
            <p:ph idx="1"/>
          </p:nvPr>
        </p:nvSpPr>
        <p:spPr/>
        <p:txBody>
          <a:bodyPr/>
          <a:lstStyle/>
          <a:p>
            <a:endParaRPr lang="fr-CA"/>
          </a:p>
        </p:txBody>
      </p:sp>
    </p:spTree>
    <p:extLst>
      <p:ext uri="{BB962C8B-B14F-4D97-AF65-F5344CB8AC3E}">
        <p14:creationId xmlns:p14="http://schemas.microsoft.com/office/powerpoint/2010/main" val="33405579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12815</TotalTime>
  <Words>924</Words>
  <Application>Microsoft Office PowerPoint</Application>
  <PresentationFormat>Widescreen</PresentationFormat>
  <Paragraphs>93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Symbol</vt:lpstr>
      <vt:lpstr>Office Theme</vt:lpstr>
      <vt:lpstr>COMM 407 Real Estate Economics</vt:lpstr>
      <vt:lpstr>PowerPoint Presentation</vt:lpstr>
      <vt:lpstr>Sanghoon Lee</vt:lpstr>
      <vt:lpstr>Goal</vt:lpstr>
      <vt:lpstr>Course Structure</vt:lpstr>
      <vt:lpstr>Grade</vt:lpstr>
      <vt:lpstr>Class participation</vt:lpstr>
      <vt:lpstr>Individual research presentation</vt:lpstr>
      <vt:lpstr>Group research presentation</vt:lpstr>
      <vt:lpstr>Important dates</vt:lpstr>
      <vt:lpstr>Please read the syllabus</vt:lpstr>
      <vt:lpstr>iClicker Reef</vt:lpstr>
      <vt:lpstr>iClicker Test: Which continent were you born in?</vt:lpstr>
      <vt:lpstr>iClicker Test: What is your favorite restaurant in Vancouver?</vt:lpstr>
      <vt:lpstr>Piazza</vt:lpstr>
      <vt:lpstr>DataCamp</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 306 Urban Land Economics</dc:title>
  <dc:creator>Sanghoon Lee</dc:creator>
  <cp:lastModifiedBy>Lee, Sanghoon</cp:lastModifiedBy>
  <cp:revision>68</cp:revision>
  <dcterms:created xsi:type="dcterms:W3CDTF">2021-01-11T04:45:27Z</dcterms:created>
  <dcterms:modified xsi:type="dcterms:W3CDTF">2026-01-04T23:37:10Z</dcterms:modified>
</cp:coreProperties>
</file>